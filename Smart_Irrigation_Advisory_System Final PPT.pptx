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194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754880"/>
            <a:ext cx="2377440" cy="23774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CODERS  ·  CODEGNAN HACKATHON  ·  AGRICULTURE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2697480"/>
            <a:ext cx="9601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Irrigation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Advisory System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640080" y="47091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6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soil moisture, weather, and crop-stage data into one clear irrigation decision for small farmers.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·  Firebase Cloud Functions  ·  Firestore  ·  OpenWeatherMap</a:t>
            </a:r>
            <a:endParaRPr lang="en-US" sz="11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F84E-320E-AC1A-F1F0-0EABD6593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849" y="614919"/>
            <a:ext cx="2482682" cy="8275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farmers are irrigating blind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2900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4E7DD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tin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028" y="235915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6324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Over-irrigation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52044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Wastes water and leaches nutrients when soil is already wet enough for the crop's stage.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97680" y="1874520"/>
            <a:ext cx="342900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4E7DD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219456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1" name="Image 1" descr="clou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235915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06324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Under-irrigation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572000" y="352044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 stress and yields drop when farmers miss dry spells or misjudge coming rain.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1874520"/>
            <a:ext cx="342900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4E7DD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219456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6" name="Image 2" descr="seedling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1352" y="235915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306324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decision tool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21040" y="352044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moisture, weather, and crop-stage need are tracked separately — if at all.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2C5F2D"/>
          </a:solidFill>
          <a:ln/>
        </p:spPr>
      </p:sp>
      <p:sp>
        <p:nvSpPr>
          <p:cNvPr id="20" name="Text 15"/>
          <p:cNvSpPr/>
          <p:nvPr/>
        </p:nvSpPr>
        <p:spPr>
          <a:xfrm>
            <a:off x="822960" y="544068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rule-based advisory engine that combines soil moisture threshold + crop-stage water need + rain forecast into a single, plain-language recommendation.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Irrigation Advisory System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workflow, five steps, every demo run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600200" y="2857500"/>
            <a:ext cx="1451610" cy="0"/>
          </a:xfrm>
          <a:prstGeom prst="line">
            <a:avLst/>
          </a:prstGeom>
          <a:noFill/>
          <a:ln w="28575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331720"/>
            <a:ext cx="1051560" cy="10515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clipbo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14" y="2584094"/>
            <a:ext cx="546811" cy="5468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0391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2860" y="3520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field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2860" y="388620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picks a field and enters or imports a soil-moisture reading.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103370" y="2857500"/>
            <a:ext cx="1451610" cy="0"/>
          </a:xfrm>
          <a:prstGeom prst="line">
            <a:avLst/>
          </a:prstGeom>
          <a:noFill/>
          <a:ln w="28575">
            <a:solidFill>
              <a:srgbClr val="97BC6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051810" y="233172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clou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4184" y="2584094"/>
            <a:ext cx="546811" cy="54681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06090" y="20391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526030" y="3520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conditions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526030" y="388620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pulls the rain forecast and the crop stage's water requirement.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606540" y="2857500"/>
            <a:ext cx="1451610" cy="0"/>
          </a:xfrm>
          <a:prstGeom prst="line">
            <a:avLst/>
          </a:prstGeom>
          <a:noFill/>
          <a:ln w="28575">
            <a:solidFill>
              <a:srgbClr val="97BC6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554980" y="2331720"/>
            <a:ext cx="1051560" cy="10515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8" name="Image 2" descr="cog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7354" y="2584094"/>
            <a:ext cx="546811" cy="54681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509260" y="20391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029200" y="3520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recommendation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029200" y="388620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returns irrigate now / wait, with an amount and reason.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9109710" y="2857500"/>
            <a:ext cx="1451610" cy="0"/>
          </a:xfrm>
          <a:prstGeom prst="line">
            <a:avLst/>
          </a:prstGeom>
          <a:noFill/>
          <a:ln w="28575">
            <a:solidFill>
              <a:srgbClr val="97BC6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058150" y="233172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che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0524" y="2584094"/>
            <a:ext cx="546811" cy="54681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012430" y="20391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532370" y="3520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the action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7532370" y="388620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marks irrigation as done or skipped in the field's history.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10561320" y="2331720"/>
            <a:ext cx="1051560" cy="10515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9" name="Image 4" descr="char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13694" y="2584094"/>
            <a:ext cx="546811" cy="546811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515600" y="20391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10035540" y="3520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the trend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10035540" y="388620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Water-usage dashboard and adherence stats update immediately.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548640" y="580644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6F7F2"/>
          </a:solidFill>
          <a:ln w="12700">
            <a:solidFill>
              <a:srgbClr val="DDE3D3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script (Section 10) rehearses exactly this path end to end, with a seeded field and readings.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Irrigation Advisory System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Firebase project, deployed with one command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2C5F2D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99339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mobi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63" y="2114093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947672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371600" y="218541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 + Tailwind CSS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2C5F2D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862072"/>
            <a:ext cx="502920" cy="502920"/>
          </a:xfrm>
          <a:prstGeom prst="ellipse">
            <a:avLst/>
          </a:prstGeom>
          <a:solidFill>
            <a:srgbClr val="E3A857"/>
          </a:solidFill>
          <a:ln/>
        </p:spPr>
      </p:sp>
      <p:pic>
        <p:nvPicPr>
          <p:cNvPr id="11" name="Image 1" descr="cog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3" y="2982773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816352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LOGIC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371600" y="305409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 Functions  + Python Flask</a:t>
            </a:r>
          </a:p>
        </p:txBody>
      </p:sp>
      <p:sp>
        <p:nvSpPr>
          <p:cNvPr id="14" name="Shape 10"/>
          <p:cNvSpPr/>
          <p:nvPr/>
        </p:nvSpPr>
        <p:spPr>
          <a:xfrm>
            <a:off x="548640" y="3611880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2C5F2D"/>
          </a:solidFill>
          <a:ln/>
        </p:spPr>
      </p:sp>
      <p:sp>
        <p:nvSpPr>
          <p:cNvPr id="15" name="Shape 11"/>
          <p:cNvSpPr/>
          <p:nvPr/>
        </p:nvSpPr>
        <p:spPr>
          <a:xfrm>
            <a:off x="713232" y="373075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33" y="3851453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685032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371600" y="392277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 — real-time NoSQL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63640" y="1874520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2C5F2D"/>
          </a:solidFill>
          <a:ln/>
        </p:spPr>
      </p:sp>
      <p:sp>
        <p:nvSpPr>
          <p:cNvPr id="20" name="Shape 15"/>
          <p:cNvSpPr/>
          <p:nvPr/>
        </p:nvSpPr>
        <p:spPr>
          <a:xfrm>
            <a:off x="6428232" y="1993392"/>
            <a:ext cx="502920" cy="502920"/>
          </a:xfrm>
          <a:prstGeom prst="ellipse">
            <a:avLst/>
          </a:prstGeom>
          <a:solidFill>
            <a:srgbClr val="E3A857"/>
          </a:solidFill>
          <a:ln/>
        </p:spPr>
      </p:sp>
      <p:pic>
        <p:nvPicPr>
          <p:cNvPr id="21" name="Image 3" descr="lo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8933" y="2114093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1947672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086600" y="218541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 (email/password) + custom role claim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263640" y="2743200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2C5F2D"/>
          </a:solidFill>
          <a:ln/>
        </p:spPr>
      </p:sp>
      <p:sp>
        <p:nvSpPr>
          <p:cNvPr id="25" name="Shape 19"/>
          <p:cNvSpPr/>
          <p:nvPr/>
        </p:nvSpPr>
        <p:spPr>
          <a:xfrm>
            <a:off x="6428232" y="286207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char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8933" y="2982773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086600" y="2816352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7086600" y="305409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Recharts, reading live from Firestore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263640" y="3611880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2C5F2D"/>
          </a:solidFill>
          <a:ln/>
        </p:spPr>
      </p:sp>
      <p:sp>
        <p:nvSpPr>
          <p:cNvPr id="30" name="Shape 23"/>
          <p:cNvSpPr/>
          <p:nvPr/>
        </p:nvSpPr>
        <p:spPr>
          <a:xfrm>
            <a:off x="6428232" y="3730752"/>
            <a:ext cx="502920" cy="502920"/>
          </a:xfrm>
          <a:prstGeom prst="ellipse">
            <a:avLst/>
          </a:prstGeom>
          <a:solidFill>
            <a:srgbClr val="E3A857"/>
          </a:solidFill>
          <a:ln/>
        </p:spPr>
      </p:sp>
      <p:pic>
        <p:nvPicPr>
          <p:cNvPr id="31" name="Image 5" descr="clou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8933" y="3851453"/>
            <a:ext cx="261518" cy="26151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86600" y="3685032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7086600" y="392277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 free tier, called server-side, manual-entry fallback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48640" y="4526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Firebase Hosting (frontend) + Cloud Functions (backend) — single firebase deploy for the whole app.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548640" y="502920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2C5F2D"/>
          </a:solidFill>
          <a:ln/>
        </p:spPr>
      </p:sp>
      <p:sp>
        <p:nvSpPr>
          <p:cNvPr id="36" name="Text 28"/>
          <p:cNvSpPr/>
          <p:nvPr/>
        </p:nvSpPr>
        <p:spPr>
          <a:xfrm>
            <a:off x="868680" y="502920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counts as a real backend: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 engine and weather-fetch logic live in Cloud Functions, not client-side Firestore reads/writes — meeting the “functional backend, not placeholder responses” judging criterion.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Irrigation Advisory System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Roles &amp; Access Control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roles, enforced twice — never trusting the client alone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12080" cy="3108960"/>
          </a:xfrm>
          <a:prstGeom prst="roundRect">
            <a:avLst>
              <a:gd name="adj" fmla="val 3529"/>
            </a:avLst>
          </a:prstGeom>
          <a:solidFill>
            <a:srgbClr val="F6F7F2"/>
          </a:solidFill>
          <a:ln w="12700">
            <a:solidFill>
              <a:srgbClr val="DDE3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9456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" y="23481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240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92608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Registers via self-service sign-up (role locked to farmer)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338328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Creates and manages their own fields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384048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Logs moisture readings &amp; irrigation actions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8680" y="429768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Views recommendations and their own dashboard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09360" y="1874520"/>
            <a:ext cx="5212080" cy="3108960"/>
          </a:xfrm>
          <a:prstGeom prst="roundRect">
            <a:avLst>
              <a:gd name="adj" fmla="val 3529"/>
            </a:avLst>
          </a:prstGeom>
          <a:solidFill>
            <a:srgbClr val="F6F7F2"/>
          </a:solidFill>
          <a:ln w="12700">
            <a:solidFill>
              <a:srgbClr val="DDE3D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629400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019" y="2348179"/>
            <a:ext cx="332842" cy="33284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52360" y="2240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629400" y="292608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Seeded manually — not self-registrable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629400" y="338328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Manages the crop-stage water-requirement table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629400" y="384048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Adds / edits crop + stage + water need + threshold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629400" y="429768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Cannot see or edit any farmer's field data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48640" y="525780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2C5F2D"/>
          </a:solidFill>
          <a:ln/>
        </p:spPr>
      </p:sp>
      <p:sp>
        <p:nvSpPr>
          <p:cNvPr id="21" name="Text 17"/>
          <p:cNvSpPr/>
          <p:nvPr/>
        </p:nvSpPr>
        <p:spPr>
          <a:xfrm>
            <a:off x="868680" y="525780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in two places: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stored as a Firebase Auth custom claim (role: farmer | admin), checked in Firestore Security Rules on every read/write and inside Cloud Functions via context.auth.token.role — never hidden in the UI alone.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Irrigation Advisory System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Firestore Data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Subcollections keep each field's history scoped, cheap to query, and index-free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users/{uid}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email · role · createdAt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977640" y="187452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4160520" y="1965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fields/{fieldId}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60520" y="22860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· name · cropType · areaAcres · currentGrowthStage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0" y="18745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cropStageRules/{ruleId}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0" y="22860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cropType · growthStage · waterRequirementMmPerDay · moistureThresholdPercent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77840" y="2926080"/>
            <a:ext cx="0" cy="32004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77640" y="3200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subcollections under fields/{fieldId}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F6F7F2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685032"/>
            <a:ext cx="3191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moistureReadings/{id}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13232" y="3977640"/>
            <a:ext cx="3191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moisturePercent · readingDate · source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43400" y="361188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F6F7F2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07992" y="3685032"/>
            <a:ext cx="3191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weatherData/{id}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07992" y="3977640"/>
            <a:ext cx="3191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rainProbabilityPercent · expectedRainfallMm · temperatureC · source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138160" y="361188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F6F7F2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02752" y="3685032"/>
            <a:ext cx="3191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irrigationLogs/{id}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02752" y="3977640"/>
            <a:ext cx="3191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· recommendedAmountMm · actionTaken · actualAmountMm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1B3A1C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892040"/>
            <a:ext cx="10424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rules, not just structure: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and their subcollections are readable/writable only by request.auth.uid == userId. cropStageRules is readable by any authenticated user but writable only by admin. A field is never hard-deleted — an archived flag preserves history.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Irrigation Advisory System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Recommendation Engine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pure, unit-testable function inside a Cloud Function — never computed client-side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0" cy="1051560"/>
          </a:xfrm>
          <a:prstGeom prst="roundRect">
            <a:avLst>
              <a:gd name="adj" fmla="val 7826"/>
            </a:avLst>
          </a:prstGeom>
          <a:solidFill>
            <a:srgbClr val="2C5F2D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28800"/>
            <a:ext cx="594360" cy="594360"/>
          </a:xfrm>
          <a:prstGeom prst="ellipse">
            <a:avLst/>
          </a:prstGeom>
          <a:solidFill>
            <a:srgbClr val="1B3A1C"/>
          </a:solidFill>
          <a:ln/>
        </p:spPr>
      </p:sp>
      <p:pic>
        <p:nvPicPr>
          <p:cNvPr id="6" name="Image 0" descr="seedling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197144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099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/ above threshold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508760" y="207568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Wait, regardless of weather.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788920"/>
            <a:ext cx="5029200" cy="1051560"/>
          </a:xfrm>
          <a:prstGeom prst="roundRect">
            <a:avLst>
              <a:gd name="adj" fmla="val 7826"/>
            </a:avLst>
          </a:prstGeom>
          <a:solidFill>
            <a:srgbClr val="2C5F2D"/>
          </a:solidFill>
          <a:ln/>
        </p:spPr>
      </p:sp>
      <p:sp>
        <p:nvSpPr>
          <p:cNvPr id="10" name="Shape 7"/>
          <p:cNvSpPr/>
          <p:nvPr/>
        </p:nvSpPr>
        <p:spPr>
          <a:xfrm>
            <a:off x="731520" y="3017520"/>
            <a:ext cx="594360" cy="594360"/>
          </a:xfrm>
          <a:prstGeom prst="ellipse">
            <a:avLst/>
          </a:prstGeom>
          <a:solidFill>
            <a:srgbClr val="1B3A1C"/>
          </a:solidFill>
          <a:ln/>
        </p:spPr>
      </p:sp>
      <p:pic>
        <p:nvPicPr>
          <p:cNvPr id="11" name="Image 1" descr="cloud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66" y="316016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8986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threshold, rain incoming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508760" y="326440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Wait — rain covers ≥70% of daily need.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029200" cy="1051560"/>
          </a:xfrm>
          <a:prstGeom prst="roundRect">
            <a:avLst>
              <a:gd name="adj" fmla="val 7826"/>
            </a:avLst>
          </a:prstGeom>
          <a:solidFill>
            <a:srgbClr val="2C5F2D"/>
          </a:solidFill>
          <a:ln/>
        </p:spPr>
      </p:sp>
      <p:sp>
        <p:nvSpPr>
          <p:cNvPr id="15" name="Shape 11"/>
          <p:cNvSpPr/>
          <p:nvPr/>
        </p:nvSpPr>
        <p:spPr>
          <a:xfrm>
            <a:off x="731520" y="4206240"/>
            <a:ext cx="594360" cy="594360"/>
          </a:xfrm>
          <a:prstGeom prst="ellipse">
            <a:avLst/>
          </a:prstGeom>
          <a:solidFill>
            <a:srgbClr val="1B3A1C"/>
          </a:solidFill>
          <a:ln/>
        </p:spPr>
      </p:sp>
      <p:pic>
        <p:nvPicPr>
          <p:cNvPr id="16" name="Image 2" descr="tint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166" y="4348886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0873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threshold, no rain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508760" y="445312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Irrigate, amount scaled to the moisture deficit.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852160" y="1600200"/>
            <a:ext cx="5760720" cy="3337560"/>
          </a:xfrm>
          <a:prstGeom prst="roundRect">
            <a:avLst>
              <a:gd name="adj" fmla="val 2466"/>
            </a:avLst>
          </a:prstGeom>
          <a:solidFill>
            <a:srgbClr val="10241A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126480" y="1783080"/>
            <a:ext cx="52120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moisture &gt;= threshold:
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WAIT, 0mm
</a:t>
            </a:r>
            <a:r>
              <a:rPr lang="en-US" sz="12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rain_prob &gt;= 60% and
   rain_mm &gt;= daily_need * 0.7:
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WAIT, 0mm  # rain covers it
</a:t>
            </a:r>
            <a:r>
              <a:rPr lang="en-US" sz="12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deficit = (threshold - moisture) / threshold
amount = daily_need * (1 + deficit)
</a:t>
            </a:r>
            <a:r>
              <a:rPr lang="en-US" sz="12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IRRIGATE, round(amount, 1)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521208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2C5F2D"/>
          </a:solidFill>
          <a:ln/>
        </p:spPr>
      </p:sp>
      <p:sp>
        <p:nvSpPr>
          <p:cNvPr id="22" name="Text 17"/>
          <p:cNvSpPr/>
          <p:nvPr/>
        </p:nvSpPr>
        <p:spPr>
          <a:xfrm>
            <a:off x="868680" y="521208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Function getRecommendation(fieldId):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latest moisture reading, matching cropStageRules doc, and latest weather doc from Firestore, runs this engine, and returns { recommendation, amount_mm, reason }.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Irrigation Advisory System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Logic (Cloud Functions)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writes handle CRUD; functions own anything that must run server-side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6F7F2"/>
          </a:solidFill>
          <a:ln w="12700">
            <a:solidFill>
              <a:srgbClr val="DDE3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3172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47436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945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2606040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onCreate sets default farmer claim · setUserRole (admin-only, callable)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63640" y="192024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6F7F2"/>
          </a:solidFill>
          <a:ln w="12700">
            <a:solidFill>
              <a:srgbClr val="DDE3D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233172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clou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606" y="247436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1945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15200" y="2606040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fetchWeatherForecast — calls OpenWeatherMap server-side, keeps API key out of the client, falls back to manual entry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6118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6F7F2"/>
          </a:solidFill>
          <a:ln w="12700">
            <a:solidFill>
              <a:srgbClr val="DDE3D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402336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6" name="Image 2" descr="cog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06" y="4166006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8862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00200" y="4297680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getRecommendation — the one endpoint that must never be computed client-side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63640" y="36118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6F7F2"/>
          </a:solidFill>
          <a:ln w="12700">
            <a:solidFill>
              <a:srgbClr val="DDE3D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37960" y="40233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char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0606" y="4166006"/>
            <a:ext cx="309067" cy="30906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38862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15200" y="4297680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getWaterUsageTrend and getAdherenceStats aggregate irrigation logs into chart-ready data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55778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2C5F2D"/>
          </a:solidFill>
          <a:ln/>
        </p:spPr>
      </p:sp>
      <p:sp>
        <p:nvSpPr>
          <p:cNvPr id="25" name="Text 19"/>
          <p:cNvSpPr/>
          <p:nvPr/>
        </p:nvSpPr>
        <p:spPr>
          <a:xfrm>
            <a:off x="868680" y="557784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function validates its input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(missing fieldId, out-of-range moisture %, unknown crop stage) and throws a proper HttpsError — Firestore Security Rules cover the rest for direct client writes.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Irrigation Advisory System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Screens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language, large touch targets — built for a farmer, not a developer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103120" cy="3566160"/>
          </a:xfrm>
          <a:prstGeom prst="roundRect">
            <a:avLst>
              <a:gd name="adj" fmla="val 4348"/>
            </a:avLst>
          </a:prstGeom>
          <a:solidFill>
            <a:srgbClr val="F6F7F2"/>
          </a:solidFill>
          <a:ln w="12700">
            <a:solidFill>
              <a:srgbClr val="DDE3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44168" y="2221992"/>
            <a:ext cx="512064" cy="51206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1344168" y="22219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/ Register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3520440"/>
            <a:ext cx="18288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self-registers; admin accounts are seeded, not self-registrable.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34640" y="1965960"/>
            <a:ext cx="2103120" cy="3566160"/>
          </a:xfrm>
          <a:prstGeom prst="roundRect">
            <a:avLst>
              <a:gd name="adj" fmla="val 4348"/>
            </a:avLst>
          </a:prstGeom>
          <a:solidFill>
            <a:srgbClr val="F6F7F2"/>
          </a:solidFill>
          <a:ln w="12700">
            <a:solidFill>
              <a:srgbClr val="DDE3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30168" y="2221992"/>
            <a:ext cx="512064" cy="51206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3630168" y="22219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971800" y="29260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Farmer Dashboard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971800" y="3520440"/>
            <a:ext cx="18288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fields with a quick “add field” action.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0" y="1828800"/>
            <a:ext cx="2103120" cy="3840480"/>
          </a:xfrm>
          <a:prstGeom prst="roundRect">
            <a:avLst>
              <a:gd name="adj" fmla="val 4348"/>
            </a:avLst>
          </a:prstGeom>
          <a:solidFill>
            <a:srgbClr val="2C5F2D"/>
          </a:solidFill>
          <a:ln/>
          <a:effectLst>
            <a:outerShdw blurRad="101600" dist="381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16168" y="2084832"/>
            <a:ext cx="512064" cy="512064"/>
          </a:xfrm>
          <a:prstGeom prst="ellipse">
            <a:avLst/>
          </a:prstGeom>
          <a:solidFill>
            <a:srgbClr val="E3A857"/>
          </a:solidFill>
          <a:ln/>
        </p:spPr>
      </p:sp>
      <p:sp>
        <p:nvSpPr>
          <p:cNvPr id="16" name="Text 14"/>
          <p:cNvSpPr/>
          <p:nvPr/>
        </p:nvSpPr>
        <p:spPr>
          <a:xfrm>
            <a:off x="5916168" y="20848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57800" y="27889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Detail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57800" y="3383280"/>
            <a:ext cx="18288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F6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Tabs: Log Reading · Recommendation card (“Irrigate now: 12mm”) · History.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06640" y="1965960"/>
            <a:ext cx="2103120" cy="3566160"/>
          </a:xfrm>
          <a:prstGeom prst="roundRect">
            <a:avLst>
              <a:gd name="adj" fmla="val 4348"/>
            </a:avLst>
          </a:prstGeom>
          <a:solidFill>
            <a:srgbClr val="F6F7F2"/>
          </a:solidFill>
          <a:ln w="12700">
            <a:solidFill>
              <a:srgbClr val="DDE3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02168" y="2221992"/>
            <a:ext cx="512064" cy="51206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8202168" y="22219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543800" y="29260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Usage Dashboard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543800" y="3520440"/>
            <a:ext cx="18288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Season-long usage chart plus recommendation-vs-actual adherence.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692640" y="1965960"/>
            <a:ext cx="2103120" cy="3566160"/>
          </a:xfrm>
          <a:prstGeom prst="roundRect">
            <a:avLst>
              <a:gd name="adj" fmla="val 4348"/>
            </a:avLst>
          </a:prstGeom>
          <a:solidFill>
            <a:srgbClr val="F6F7F2"/>
          </a:solidFill>
          <a:ln w="12700">
            <a:solidFill>
              <a:srgbClr val="DDE3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488168" y="2221992"/>
            <a:ext cx="512064" cy="51206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10488168" y="22219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829800" y="29260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</a:rPr>
              <a:t>Crop Details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829800" y="3520440"/>
            <a:ext cx="18288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pulls a weather forecast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crop Details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“Irrigate now” — not “moisture_deficit_flag = true.”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Irrigation Advisory System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572000"/>
            <a:ext cx="4114800" cy="41148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Script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rehearsed steps, one seeded field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E3A85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700784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as the demo farmer, select the seeded field, show its current growth stage.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58568"/>
            <a:ext cx="384048" cy="384048"/>
          </a:xfrm>
          <a:prstGeom prst="ellipse">
            <a:avLst/>
          </a:prstGeom>
          <a:solidFill>
            <a:srgbClr val="E3A85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58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26771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soil-moisture reading that sits below the stage threshold.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825496"/>
            <a:ext cx="384048" cy="384048"/>
          </a:xfrm>
          <a:prstGeom prst="ellipse">
            <a:avLst/>
          </a:prstGeom>
          <a:solidFill>
            <a:srgbClr val="E3A857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25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8346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system auto-pulling the weather forecast and crop-stage requirement.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392424"/>
            <a:ext cx="384048" cy="384048"/>
          </a:xfrm>
          <a:prstGeom prst="ellipse">
            <a:avLst/>
          </a:prstGeom>
          <a:solidFill>
            <a:srgbClr val="E3A857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92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40156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recommendation card (irrigate + amount, with reason) → mark as irrigated.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959352"/>
            <a:ext cx="384048" cy="384048"/>
          </a:xfrm>
          <a:prstGeom prst="ellipse">
            <a:avLst/>
          </a:prstGeom>
          <a:solidFill>
            <a:srgbClr val="E3A857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9593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68496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the Water Usage Dashboard — watch the trend update live.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040880" y="1691640"/>
            <a:ext cx="4572000" cy="4160520"/>
          </a:xfrm>
          <a:prstGeom prst="roundRect">
            <a:avLst>
              <a:gd name="adj" fmla="val 2637"/>
            </a:avLst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0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3A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the rubric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315200" y="2423160"/>
            <a:ext cx="365760" cy="365760"/>
          </a:xfrm>
          <a:prstGeom prst="ellipse">
            <a:avLst/>
          </a:prstGeom>
          <a:solidFill>
            <a:srgbClr val="1B3A1C"/>
          </a:solidFill>
          <a:ln/>
        </p:spPr>
      </p:sp>
      <p:pic>
        <p:nvPicPr>
          <p:cNvPr id="23" name="Image 0" descr="chec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2982" y="2510942"/>
            <a:ext cx="190195" cy="190195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818120" y="2386584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backend — rule engine + weather fetch in Cloud Functions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315200" y="2953512"/>
            <a:ext cx="365760" cy="365760"/>
          </a:xfrm>
          <a:prstGeom prst="ellipse">
            <a:avLst/>
          </a:prstGeom>
          <a:solidFill>
            <a:srgbClr val="1B3A1C"/>
          </a:solidFill>
          <a:ln/>
        </p:spPr>
      </p:sp>
      <p:pic>
        <p:nvPicPr>
          <p:cNvPr id="26" name="Image 1" descr="chec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2982" y="3041294"/>
            <a:ext cx="190195" cy="190195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818120" y="2916936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via custom claims + Security Rules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7315200" y="3483864"/>
            <a:ext cx="365760" cy="365760"/>
          </a:xfrm>
          <a:prstGeom prst="ellipse">
            <a:avLst/>
          </a:prstGeom>
          <a:solidFill>
            <a:srgbClr val="1B3A1C"/>
          </a:solidFill>
          <a:ln/>
        </p:spPr>
      </p:sp>
      <p:pic>
        <p:nvPicPr>
          <p:cNvPr id="29" name="Image 2" descr="chec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2982" y="3571646"/>
            <a:ext cx="190195" cy="190195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7818120" y="3447288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on every form and function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7315200" y="4014216"/>
            <a:ext cx="365760" cy="365760"/>
          </a:xfrm>
          <a:prstGeom prst="ellipse">
            <a:avLst/>
          </a:prstGeom>
          <a:solidFill>
            <a:srgbClr val="1B3A1C"/>
          </a:solidFill>
          <a:ln/>
        </p:spPr>
      </p:sp>
      <p:pic>
        <p:nvPicPr>
          <p:cNvPr id="32" name="Image 3" descr="chec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2982" y="4101998"/>
            <a:ext cx="190195" cy="190195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818120" y="397764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via the Firebase Emulator Suite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7315200" y="4544568"/>
            <a:ext cx="365760" cy="365760"/>
          </a:xfrm>
          <a:prstGeom prst="ellipse">
            <a:avLst/>
          </a:prstGeom>
          <a:solidFill>
            <a:srgbClr val="1B3A1C"/>
          </a:solidFill>
          <a:ln/>
        </p:spPr>
      </p:sp>
      <p:pic>
        <p:nvPicPr>
          <p:cNvPr id="35" name="Image 4" descr="chec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2982" y="4632350"/>
            <a:ext cx="190195" cy="190195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818120" y="450799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script + README with setup &amp; design decisions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7315200" y="5074920"/>
            <a:ext cx="365760" cy="365760"/>
          </a:xfrm>
          <a:prstGeom prst="ellipse">
            <a:avLst/>
          </a:prstGeom>
          <a:solidFill>
            <a:srgbClr val="1B3A1C"/>
          </a:solidFill>
          <a:ln/>
        </p:spPr>
      </p:sp>
      <p:pic>
        <p:nvPicPr>
          <p:cNvPr id="38" name="Image 5" descr="chec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2982" y="5162702"/>
            <a:ext cx="190195" cy="190195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818120" y="5038344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plain-language UI for a farmer, not a developer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Coders  ·  Codegnan Hackathon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capabilities for greater accessibility and smart insights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3108960"/>
          </a:xfrm>
          <a:prstGeom prst="roundRect">
            <a:avLst>
              <a:gd name="adj" fmla="val 3529"/>
            </a:avLst>
          </a:prstGeom>
          <a:solidFill>
            <a:srgbClr val="F6F7F2"/>
          </a:solidFill>
          <a:ln w="12700">
            <a:solidFill>
              <a:srgbClr val="DDE3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9456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user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99" y="23481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240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79" y="2926080"/>
            <a:ext cx="9269619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Voice Assistance for Illiterate Farmers – Enable farmers to interact with the system using simple voice commands in their local language.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3383280"/>
            <a:ext cx="926961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Multi-Language Translator – Provide information and recommendations in regional languages to make the system more accessible.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3840480"/>
            <a:ext cx="926961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AI-Powered Recommendations – Improve irrigation decisions using real-time weather, soil, and crop data.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8680" y="4297680"/>
            <a:ext cx="10561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Mobile Integration – Allow farmers to monitor and control irrigation systems directly through a mobile application.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7452360" y="2240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629400" y="292608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629400" y="338328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11612880" y="3881628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629400" y="429768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48640" y="525780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2C5F2D"/>
          </a:solidFill>
          <a:ln/>
        </p:spPr>
      </p:sp>
      <p:sp>
        <p:nvSpPr>
          <p:cNvPr id="21" name="Text 17"/>
          <p:cNvSpPr/>
          <p:nvPr/>
        </p:nvSpPr>
        <p:spPr>
          <a:xfrm>
            <a:off x="868680" y="525780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in two places: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stored as a Firebase Auth custom claim (role: farmer | admin), checked in Firestore Security Rules on every read/write and inside Cloud Functions via context.auth.token.role — never hidden in the UI alone.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Irrigation Advisory System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for sustainable agriculture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3108960"/>
          </a:xfrm>
          <a:prstGeom prst="roundRect">
            <a:avLst>
              <a:gd name="adj" fmla="val 3529"/>
            </a:avLst>
          </a:prstGeom>
          <a:solidFill>
            <a:srgbClr val="F6F7F2"/>
          </a:solidFill>
          <a:ln w="12700">
            <a:solidFill>
              <a:srgbClr val="DDE3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9456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user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99" y="23481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240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926080"/>
            <a:ext cx="743855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Smart irrigation helps farmers use water efficiently and avoid unnecessary wastage.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79" y="3383280"/>
            <a:ext cx="1020763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By combining sensors, automation, and real-time monitoring, crops can receive the right amount of water at the right time.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79" y="3840480"/>
            <a:ext cx="7628339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This technology can improve crop productivity, reduce costs, and support sustainable agriculture.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8680" y="4297680"/>
            <a:ext cx="102076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🚜 With future improvements such as voice assistance and regional-language support, smart irrigation can become more accessible to every farmer.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7452360" y="2240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629400" y="292608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629400" y="338328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629400" y="384048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629400" y="429768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48640" y="525780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2C5F2D"/>
          </a:solidFill>
          <a:ln/>
        </p:spPr>
      </p:sp>
      <p:sp>
        <p:nvSpPr>
          <p:cNvPr id="21" name="Text 17"/>
          <p:cNvSpPr/>
          <p:nvPr/>
        </p:nvSpPr>
        <p:spPr>
          <a:xfrm>
            <a:off x="868680" y="525780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in two places: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stored as a Firebase Auth custom claim (role: farmer | admin), checked in Firestore Security Rules on every read/write and inside Cloud Functions via context.auth.token.role — never hidden in the UI alone.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Irrigation Advisory System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53352" y="1603306"/>
            <a:ext cx="6980495" cy="36544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380493" y="4020254"/>
            <a:ext cx="449781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Water. Healthy Crops. Sustainable Future.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91640" y="2240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92608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338328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384048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8680" y="429768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7452360" y="2240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629400" y="292608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629400" y="338328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629400" y="384048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868680" y="525780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Irrigation Advisory System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1500</Words>
  <Application>Microsoft Office PowerPoint</Application>
  <PresentationFormat>Widescreen</PresentationFormat>
  <Paragraphs>187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Gara Durga Prasad</cp:lastModifiedBy>
  <cp:revision>6</cp:revision>
  <dcterms:created xsi:type="dcterms:W3CDTF">2026-08-13T05:25:54Z</dcterms:created>
  <dcterms:modified xsi:type="dcterms:W3CDTF">2026-08-13T11:26:15Z</dcterms:modified>
</cp:coreProperties>
</file>